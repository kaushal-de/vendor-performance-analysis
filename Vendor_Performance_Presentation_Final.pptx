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Purchase Volume ($M) — Top 5 Vendors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($M)</c:v>
                </c:pt>
              </c:strCache>
            </c:strRef>
          </c:tx>
          <c:spPr>
            <a:solidFill>
              <a:srgbClr val="5C3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BACARDI USA INC</c:v>
                  </c:pt>
                  <c:pt idx="1">
                    <c:v>PERNOD RICARD USA</c:v>
                  </c:pt>
                  <c:pt idx="2">
                    <c:v>JIM BEAM BRANDS CO.</c:v>
                  </c:pt>
                  <c:pt idx="3">
                    <c:v>MARTIGNETTI COMPANIES</c:v>
                  </c:pt>
                  <c:pt idx="4">
                    <c:v>DIAGEO NORTH AMERICA INC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17.62</c:v>
                </c:pt>
                <c:pt idx="1">
                  <c:v>24.12</c:v>
                </c:pt>
                <c:pt idx="2">
                  <c:v>24.2</c:v>
                </c:pt>
                <c:pt idx="3">
                  <c:v>27.86</c:v>
                </c:pt>
                <c:pt idx="4">
                  <c:v>50.96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10 Vendor Purchase Contribution 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6E56"/>
              </a:solidFill>
              <a:effectLst/>
            </c:spPr>
          </c:dPt>
          <c:dPt>
            <c:idx val="1"/>
            <c:bubble3D val="0"/>
            <c:spPr>
              <a:solidFill>
                <a:srgbClr val="185FA5"/>
              </a:solidFill>
              <a:effectLst/>
            </c:spPr>
          </c:dPt>
          <c:dPt>
            <c:idx val="2"/>
            <c:bubble3D val="0"/>
            <c:spPr>
              <a:solidFill>
                <a:srgbClr val="854F0B"/>
              </a:solidFill>
              <a:effectLst/>
            </c:spPr>
          </c:dPt>
          <c:dPt>
            <c:idx val="3"/>
            <c:bubble3D val="0"/>
            <c:spPr>
              <a:solidFill>
                <a:srgbClr val="993556"/>
              </a:solidFill>
              <a:effectLst/>
            </c:spPr>
          </c:dPt>
          <c:dPt>
            <c:idx val="4"/>
            <c:bubble3D val="0"/>
            <c:spPr>
              <a:solidFill>
                <a:srgbClr val="A32D2D"/>
              </a:solidFill>
              <a:effectLst/>
            </c:spPr>
          </c:dPt>
          <c:dPt>
            <c:idx val="5"/>
            <c:bubble3D val="0"/>
            <c:spPr>
              <a:solidFill>
                <a:srgbClr val="534AB7"/>
              </a:solidFill>
              <a:effectLst/>
            </c:spPr>
          </c:dPt>
          <c:dPt>
            <c:idx val="6"/>
            <c:bubble3D val="0"/>
            <c:spPr>
              <a:solidFill>
                <a:srgbClr val="3B6D11"/>
              </a:solidFill>
              <a:effectLst/>
            </c:spPr>
          </c:dPt>
          <c:dPt>
            <c:idx val="7"/>
            <c:bubble3D val="0"/>
            <c:spPr>
              <a:solidFill>
                <a:srgbClr val="BA7517"/>
              </a:solidFill>
              <a:effectLst/>
            </c:spPr>
          </c:dPt>
          <c:dPt>
            <c:idx val="8"/>
            <c:bubble3D val="0"/>
            <c:spPr>
              <a:solidFill>
                <a:srgbClr val="5F5E5A"/>
              </a:solidFill>
              <a:effectLst/>
            </c:spPr>
          </c:dPt>
          <c:dPt>
            <c:idx val="9"/>
            <c:bubble3D val="0"/>
            <c:spPr>
              <a:solidFill>
                <a:srgbClr val="8887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DIAGEO N.A.</c:v>
                </c:pt>
                <c:pt idx="1">
                  <c:v>MARTIGNETTI</c:v>
                </c:pt>
                <c:pt idx="2">
                  <c:v>JIM BEAM</c:v>
                </c:pt>
                <c:pt idx="3">
                  <c:v>PERNOD RICARD</c:v>
                </c:pt>
                <c:pt idx="4">
                  <c:v>BACARDI USA</c:v>
                </c:pt>
                <c:pt idx="5">
                  <c:v>CONSTELLATION</c:v>
                </c:pt>
                <c:pt idx="6">
                  <c:v>BROWN-FORMAN</c:v>
                </c:pt>
                <c:pt idx="7">
                  <c:v>ULTRA BEV.</c:v>
                </c:pt>
                <c:pt idx="8">
                  <c:v>E&amp;J GALLO</c:v>
                </c:pt>
                <c:pt idx="9">
                  <c:v>Others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24</c:v>
                </c:pt>
                <c:pt idx="1">
                  <c:v>13</c:v>
                </c:pt>
                <c:pt idx="2">
                  <c:v>12</c:v>
                </c:pt>
                <c:pt idx="3">
                  <c:v>11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0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Bottom 5 Vendors — Avg Purchase Value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($)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79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FLAVOR ESSENCE INC</c:v>
                  </c:pt>
                  <c:pt idx="1">
                    <c:v>SILVER MOUNTAIN CIDERS</c:v>
                  </c:pt>
                  <c:pt idx="2">
                    <c:v>DELICATO VINEYARDS INC</c:v>
                  </c:pt>
                  <c:pt idx="3">
                    <c:v>CAPSTONE INTERNATIONAL</c:v>
                  </c:pt>
                  <c:pt idx="4">
                    <c:v>FANTASY FINE WINES CORP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39</c:v>
                </c:pt>
                <c:pt idx="2">
                  <c:v>53</c:v>
                </c:pt>
                <c:pt idx="3">
                  <c:v>55</c:v>
                </c:pt>
                <c:pt idx="4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79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VENDOR PERFORMANCE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•  Python  •  Power BI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Vaghela Kaushalsinh Jawaharsinh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Emerging Science and Technology  | 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KPI Summary — Real Dashboard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00200" cy="146304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1600200" cy="640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44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$452.06M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737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011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47672" y="1005840"/>
            <a:ext cx="1600200" cy="1463040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47672" y="1005840"/>
            <a:ext cx="1600200" cy="6400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50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$321.90M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93392" y="1737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Purchase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93392" y="2011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12464" y="1005840"/>
            <a:ext cx="1600200" cy="146304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12464" y="1005840"/>
            <a:ext cx="1600200" cy="640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50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$130.16M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58184" y="1737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58184" y="2011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earnings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7256" y="1005840"/>
            <a:ext cx="1600200" cy="1463040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7256" y="1005840"/>
            <a:ext cx="1600200" cy="6400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38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28.79%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22976" y="1737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22976" y="2011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margin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42048" y="1005840"/>
            <a:ext cx="1600200" cy="1463040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42048" y="1005840"/>
            <a:ext cx="1600200" cy="6400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9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87768" y="17373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Unsold Capital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87768" y="2011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6517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651760"/>
            <a:ext cx="73152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7157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Performance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017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28.79% profit margin indicates efficient procurement. $130M gross profit from $452M sales is a healthy business performance.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26517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651760"/>
            <a:ext cx="73152" cy="10058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7157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0" y="3017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$49M unsold capital = 10.8% of total purchases tied in inventory. Immediate clearance strategy required.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749040"/>
            <a:ext cx="850392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82219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 — Vendor Performance Analysis 2024  |  Real transactional data from 6 datasets (2GB+)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Vendors by Purchase Volume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05840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1005840"/>
            <a:ext cx="73152" cy="80467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051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$50.96M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126480" y="1399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DIAGEO leads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volume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1965960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1965960"/>
            <a:ext cx="73152" cy="80467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2011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26480" y="2359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DIAGEO share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2926080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926080"/>
            <a:ext cx="73152" cy="80467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2971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65.7%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26480" y="33192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vendor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3886200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3886200"/>
            <a:ext cx="73152" cy="80467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3931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vendors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126480" y="4279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majority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purchases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Purchase Contribution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572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097280"/>
            <a:ext cx="1783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212080" y="1097280"/>
            <a:ext cx="1783080" cy="64008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0" y="1234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3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65.7%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03520" y="17373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vendors control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purchases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12080" y="2926080"/>
            <a:ext cx="1783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12080" y="2926080"/>
            <a:ext cx="1783080" cy="64008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3063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3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03520" y="35661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DIAGEO alone drives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 of all purchases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223760" y="1097280"/>
            <a:ext cx="1783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23760" y="1097280"/>
            <a:ext cx="178308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1234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Risk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15200" y="17373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creates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vulnerability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223760" y="2926080"/>
            <a:ext cx="1783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223760" y="2926080"/>
            <a:ext cx="1783080" cy="64008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3063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3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315200" y="356616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— add 3-5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vendor partnerships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 Performing Vendors — Bottom 5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0584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26480" y="1005840"/>
            <a:ext cx="73152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1051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09360" y="1399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ESSENCE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purchase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1920240"/>
            <a:ext cx="73152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965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09360" y="23134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WINES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 bottom 5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283464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2834640"/>
            <a:ext cx="73152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2880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vendors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32278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374904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3749040"/>
            <a:ext cx="73152" cy="7772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37947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309360" y="41422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these vendors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371600"/>
          </a:xfrm>
          <a:prstGeom prst="rect">
            <a:avLst/>
          </a:prstGeom>
          <a:solidFill>
            <a:srgbClr val="2D1B69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KPI Cards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cards for Sales, Purchase, Profit, Margin &amp; Unsold Capital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206240" cy="1371600"/>
          </a:xfrm>
          <a:prstGeom prst="rect">
            <a:avLst/>
          </a:prstGeom>
          <a:solidFill>
            <a:srgbClr val="2D1B69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05840"/>
            <a:ext cx="4206240" cy="64008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Chart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Contribution % — Top 10 vendors with 65.7% concentration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4206240" cy="1371600"/>
          </a:xfrm>
          <a:prstGeom prst="rect">
            <a:avLst/>
          </a:prstGeom>
          <a:solidFill>
            <a:srgbClr val="2D1B69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651760"/>
            <a:ext cx="420624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Treemap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2004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Vendors By Sales — DIAGEO leads at $50.96M in purchases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4206240" cy="1371600"/>
          </a:xfrm>
          <a:prstGeom prst="rect">
            <a:avLst/>
          </a:prstGeom>
          <a:solidFill>
            <a:srgbClr val="2D1B69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651760"/>
            <a:ext cx="420624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2004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Performing Vendors — Bottom 5 with avg purchase below $65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343400"/>
            <a:ext cx="8503920" cy="457200"/>
          </a:xfrm>
          <a:prstGeom prst="rect">
            <a:avLst/>
          </a:prstGeom>
          <a:solidFill>
            <a:srgbClr val="2D1B69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built with real data — 6 CSV files loaded directly into Power BI Desktop with DAX measures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097280"/>
          </a:xfrm>
          <a:prstGeom prst="rect">
            <a:avLst/>
          </a:prstGeom>
          <a:solidFill>
            <a:srgbClr val="2D1B69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Exit Low-Value Vendors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ESSENCE ($17 avg) and SILVER MOUNTAIN ($39 avg) — exit or renegotiate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06240" cy="1097280"/>
          </a:xfrm>
          <a:prstGeom prst="rect">
            <a:avLst/>
          </a:prstGeom>
          <a:solidFill>
            <a:srgbClr val="2D1B69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Clear $49M Unsold Capital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promotions for slow-moving inventory — 10.8% of purchases tied 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206240" cy="1097280"/>
          </a:xfrm>
          <a:prstGeom prst="rect">
            <a:avLst/>
          </a:prstGeom>
          <a:solidFill>
            <a:srgbClr val="2D1B69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Reduce Vendor Concentration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= 65.7% of purchases — onboard 3-5 new vendors to diversify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206240" cy="1097280"/>
          </a:xfrm>
          <a:prstGeom prst="rect">
            <a:avLst/>
          </a:prstGeom>
          <a:solidFill>
            <a:srgbClr val="2D1B69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Increase Top Vendor Share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more to DIAGEO &amp; MARTIGNETTI given their dominant performance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4206240" cy="1097280"/>
          </a:xfrm>
          <a:prstGeom prst="rect">
            <a:avLst/>
          </a:prstGeom>
          <a:solidFill>
            <a:srgbClr val="2D1B69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57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Quarterly Scorecards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Power BI dashboard for continuous vendor monitoring and review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4206240" cy="1097280"/>
          </a:xfrm>
          <a:prstGeom prst="rect">
            <a:avLst/>
          </a:prstGeom>
          <a:solidFill>
            <a:srgbClr val="2D1B69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657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Demand Forecasting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sales data predictive analytics to reduce future unsold capital risk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1371600"/>
          </a:xfrm>
          <a:prstGeom prst="rect">
            <a:avLst/>
          </a:prstGeom>
          <a:solidFill>
            <a:srgbClr val="2D1B69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Vendor Performance Analysis using SQL, Python &amp; Power BI on 2GB+ of real data. $130.16M gross profit with 28.79% margin — with $49M unsold capital and vendor concentration as key risk areas requiring immediate action.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6 SQL queries executed across 2GB+ transactional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2461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Python EDA — visualizations &amp; hypothesis testing completed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Power BI dashboard — 4 visuals + 5 KPI cards built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0690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6 actionable business recommendations delivered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727448"/>
            <a:ext cx="9144000" cy="3474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Vaghela Kaushalsinh Jawaharsinh  |  School of Emerging Science and Technology  |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Performance Analysis</dc:title>
  <dc:subject>PptxGenJS Presentation</dc:subject>
  <dc:creator>Vaghela Kaushalsinh Jawaharsinh</dc:creator>
  <cp:lastModifiedBy>Vaghela Kaushalsinh Jawaharsinh</cp:lastModifiedBy>
  <cp:revision>1</cp:revision>
  <dcterms:created xsi:type="dcterms:W3CDTF">2026-03-21T07:18:46Z</dcterms:created>
  <dcterms:modified xsi:type="dcterms:W3CDTF">2026-03-21T07:18:46Z</dcterms:modified>
</cp:coreProperties>
</file>